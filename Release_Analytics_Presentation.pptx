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0"/>
            <a:ext cx="12024360" cy="310896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645920"/>
            <a:ext cx="91440" cy="310896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Release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18CF8"/>
                </a:solidFill>
              </a:rPr>
              <a:t>Internal Platform — Engineering &amp; Delivery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</a:rPr>
              <a:t>How we went from scattered spreadsheets to a live, multi-team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Expense on Demand  ·  April 2026  ·  Internal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0" y="274320"/>
            <a:ext cx="25603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0" y="274320"/>
            <a:ext cx="256032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0" y="274320"/>
            <a:ext cx="256032" cy="25603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Three phases. One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3566160" cy="534924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356616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097280"/>
            <a:ext cx="548640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9728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0972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Delivery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366F1"/>
                </a:solidFill>
              </a:rPr>
              <a:t>Phase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3200400" cy="18288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" y="2130552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196596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Sprint tracking &amp; burndown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2816352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5176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Team velocity trends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3502152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33756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Work item age &amp; priority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" y="4187952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402336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ADO data pipeline — live refresh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960120"/>
            <a:ext cx="3566160" cy="534924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960120"/>
            <a:ext cx="356616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1097280"/>
            <a:ext cx="548640" cy="3840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109728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v2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10972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Quality &amp; Capacity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A5FA"/>
                </a:solidFill>
              </a:rPr>
              <a:t>Phase 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1828800"/>
            <a:ext cx="3200400" cy="18288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53128" y="2130552"/>
            <a:ext cx="91440" cy="914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6008" y="196596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Bug MTTC, hotspot analysis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53128" y="2816352"/>
            <a:ext cx="91440" cy="914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36008" y="265176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QA health &amp; test coverage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53128" y="3502152"/>
            <a:ext cx="91440" cy="914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36008" y="333756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Per-developer utilisation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53128" y="4187952"/>
            <a:ext cx="91440" cy="914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36008" y="402336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Estimation accuracy tracking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2440" y="960120"/>
            <a:ext cx="3566160" cy="534924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960120"/>
            <a:ext cx="356616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75320" y="1097280"/>
            <a:ext cx="548640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109728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v3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10972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Platform &amp; Intelligence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D399"/>
                </a:solidFill>
              </a:rPr>
              <a:t>Phase 3 — Now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1828800"/>
            <a:ext cx="3200400" cy="18288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93608" y="2130552"/>
            <a:ext cx="91440" cy="91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76488" y="196596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In-house project management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93608" y="2816352"/>
            <a:ext cx="91440" cy="91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76488" y="265176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Epic / Release / Feature model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93608" y="3502152"/>
            <a:ext cx="91440" cy="91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76488" y="333756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Auth + RBAC for team rollout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93608" y="4187952"/>
            <a:ext cx="91440" cy="91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76488" y="402336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AI assistant layer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360" y="320040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18CF8"/>
                </a:solidFill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320040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18CF8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88720"/>
            <a:ext cx="9445752" cy="438912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188720"/>
            <a:ext cx="9445752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201168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</a:rPr>
              <a:t>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4D399"/>
                </a:solidFill>
              </a:rPr>
              <a:t>127.0.0.1:8050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Release Analytics — Live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4709160"/>
            <a:ext cx="1257953" cy="5029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4736592"/>
            <a:ext cx="12579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66713" y="4709160"/>
            <a:ext cx="1257953" cy="5029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6713" y="4736592"/>
            <a:ext cx="12579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6106" y="4709160"/>
            <a:ext cx="1257953" cy="5029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6106" y="4736592"/>
            <a:ext cx="12579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Planning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65499" y="4709160"/>
            <a:ext cx="1257953" cy="5029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65499" y="4736592"/>
            <a:ext cx="12579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4892" y="4709160"/>
            <a:ext cx="1257953" cy="5029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4892" y="4736592"/>
            <a:ext cx="12579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Teams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64285" y="4709160"/>
            <a:ext cx="1257953" cy="502920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4285" y="4736592"/>
            <a:ext cx="12579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Assistant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13678" y="4709160"/>
            <a:ext cx="1257953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13678" y="4736592"/>
            <a:ext cx="125795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39496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</a:rPr>
              <a:t>Authentication active  ·  Role-based access  ·  PostgreSQL backend  ·  Real ADO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Release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Before → After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137160"/>
            <a:ext cx="2103120" cy="7315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5303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Pages of live analytics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394960" cy="123444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5394960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</a:rPr>
              <a:t>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481328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B0B0"/>
                </a:solidFill>
              </a:rPr>
              <a:t>Scattered across ADO, emails, and spreadsheets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4173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143000"/>
            <a:ext cx="5394960" cy="1234440"/>
          </a:xfrm>
          <a:prstGeom prst="rect">
            <a:avLst/>
          </a:prstGeom>
          <a:solidFill>
            <a:srgbClr val="0A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143000"/>
            <a:ext cx="539496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AFTER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481328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FFD0"/>
                </a:solidFill>
              </a:rPr>
              <a:t>Single live dashboard — 8 pages, real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514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</a:rPr>
              <a:t>What changed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52928"/>
            <a:ext cx="11475720" cy="1828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154680"/>
            <a:ext cx="109728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9260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All work items from ADO synced via direct DB pipeline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04488"/>
            <a:ext cx="109728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67588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Summary page: KPIs, bug matrix, backlog trend, burn rate by priority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54296"/>
            <a:ext cx="109728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425696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Release Outlook: burn rate, scope changes, delivery risk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404104"/>
            <a:ext cx="109728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1755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No manual assembly — refresh the page, data is current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54565"/>
                </a:solidFill>
              </a:rPr>
              <a:t>Expense on Demand  ·  Release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Before → After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137160"/>
            <a:ext cx="2103120" cy="7315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~3s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5303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Time to produce a report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394960" cy="123444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5394960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</a:rPr>
              <a:t>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481328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B0B0"/>
                </a:solidFill>
              </a:rPr>
              <a:t>Hours assembling weekly manual 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4173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143000"/>
            <a:ext cx="5394960" cy="1234440"/>
          </a:xfrm>
          <a:prstGeom prst="rect">
            <a:avLst/>
          </a:prstGeom>
          <a:solidFill>
            <a:srgbClr val="0A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143000"/>
            <a:ext cx="539496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AFTER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481328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FFD0"/>
                </a:solidFill>
              </a:rPr>
              <a:t>Always-on — refresh = 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514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What changed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52928"/>
            <a:ext cx="11475720" cy="1828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154680"/>
            <a:ext cx="109728" cy="10972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9260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Data pipeline runs on demand — no scheduled jobs needed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04488"/>
            <a:ext cx="109728" cy="10972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67588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Every chart regenerates in seconds from live ADO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54296"/>
            <a:ext cx="109728" cy="10972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425696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Week-on-week trends maintained automatically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404104"/>
            <a:ext cx="109728" cy="10972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1755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Zero manual data extraction or formatting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54565"/>
                </a:solidFill>
              </a:rPr>
              <a:t>Expense on Demand  ·  Release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Capacity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Before → After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137160"/>
            <a:ext cx="2103120" cy="7315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5303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Data accuracy improvement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394960" cy="123444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5394960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</a:rPr>
              <a:t>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481328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B0B0"/>
                </a:solidFill>
              </a:rPr>
              <a:t>Impossible — no assigned vs built-by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4173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4D399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143000"/>
            <a:ext cx="5394960" cy="1234440"/>
          </a:xfrm>
          <a:prstGeom prst="rect">
            <a:avLst/>
          </a:prstGeom>
          <a:solidFill>
            <a:srgbClr val="0A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143000"/>
            <a:ext cx="539496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AFTER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481328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FFD0"/>
                </a:solidFill>
              </a:rPr>
              <a:t>Per-developer utilisation &amp; accuracy tracked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514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What changed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52928"/>
            <a:ext cx="11475720" cy="1828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154680"/>
            <a:ext cx="109728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9260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Separate main_developer field tracked independently of assigned_to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04488"/>
            <a:ext cx="109728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67588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Per-person utilisation: actual hours vs available hours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54296"/>
            <a:ext cx="109728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425696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Estimation accuracy: original estimate vs completed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404104"/>
            <a:ext cx="109728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1755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Team and individual drill-down with iteration filtering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54565"/>
                </a:solidFill>
              </a:rPr>
              <a:t>Expense on Demand  ·  Release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Bug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Before → After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137160"/>
            <a:ext cx="2103120" cy="7315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6+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5303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Bug metrics tracked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394960" cy="123444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5394960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</a:rPr>
              <a:t>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481328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B0B0"/>
                </a:solidFill>
              </a:rPr>
              <a:t>Ad-hoc ADO queries, no trend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4173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87171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143000"/>
            <a:ext cx="5394960" cy="1234440"/>
          </a:xfrm>
          <a:prstGeom prst="rect">
            <a:avLst/>
          </a:prstGeom>
          <a:solidFill>
            <a:srgbClr val="0A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143000"/>
            <a:ext cx="539496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AFTER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481328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FFD0"/>
                </a:solidFill>
              </a:rPr>
              <a:t>MTTC, hotspots, source analysis, matrices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514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What changed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52928"/>
            <a:ext cx="11475720" cy="1828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154680"/>
            <a:ext cx="109728" cy="10972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9260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Mean Time to Close (MTTC) tracked per team and priority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04488"/>
            <a:ext cx="109728" cy="10972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67588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Bug source analysis — where bugs originate in the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54296"/>
            <a:ext cx="109728" cy="10972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425696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Week-on-week movement matrix: opened vs closed vs net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404104"/>
            <a:ext cx="109728" cy="10972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1755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Priority hotspot chart — where critical bugs accumulate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54565"/>
                </a:solidFill>
              </a:rPr>
              <a:t>Expense on Demand  ·  Release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Before → After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137160"/>
            <a:ext cx="2103120" cy="7315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3,295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5303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Items correctly re-attributed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394960" cy="123444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5394960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</a:rPr>
              <a:t>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481328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B0B0"/>
                </a:solidFill>
              </a:rPr>
              <a:t>57% team mismatch (assigned vs builder)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4173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18CF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143000"/>
            <a:ext cx="5394960" cy="1234440"/>
          </a:xfrm>
          <a:prstGeom prst="rect">
            <a:avLst/>
          </a:prstGeom>
          <a:solidFill>
            <a:srgbClr val="0A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143000"/>
            <a:ext cx="539496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AFTER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481328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FFD0"/>
                </a:solidFill>
              </a:rPr>
              <a:t>main_dev_team fix — Dev work counted correctly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514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18CF8"/>
                </a:solidFill>
              </a:rPr>
              <a:t>What changed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52928"/>
            <a:ext cx="11475720" cy="1828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154680"/>
            <a:ext cx="109728" cy="10972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9260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Root cause: assigned_to often QA (ticket owner), not the builder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04488"/>
            <a:ext cx="109728" cy="10972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67588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Fix: separate main_dev_team column derived from main_developer field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54296"/>
            <a:ext cx="109728" cy="10972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425696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Capacity page uses main_dev_team — other pages use assigned_to correctly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404104"/>
            <a:ext cx="109728" cy="10972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1755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3,295 / 5,763 work items were previously attributed to the wrong team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54565"/>
                </a:solidFill>
              </a:rPr>
              <a:t>Expense on Demand  ·  Release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Hour 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Before → After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137160"/>
            <a:ext cx="2103120" cy="7315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5303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False hours removed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394960" cy="123444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5394960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</a:rPr>
              <a:t>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481328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B0B0"/>
                </a:solidFill>
              </a:rPr>
              <a:t>Double-counting parent + child estimates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4173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B923C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143000"/>
            <a:ext cx="5394960" cy="1234440"/>
          </a:xfrm>
          <a:prstGeom prst="rect">
            <a:avLst/>
          </a:prstGeom>
          <a:solidFill>
            <a:srgbClr val="0A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143000"/>
            <a:ext cx="539496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AFTER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481328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FFD0"/>
                </a:solidFill>
              </a:rPr>
              <a:t>Self-correcting exclusion rule — zero false totals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514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</a:rPr>
              <a:t>What changed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52928"/>
            <a:ext cx="11475720" cy="1828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154680"/>
            <a:ext cx="109728" cy="10972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9260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Root/Middle Enhancement containers with completed_work=0 excluded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04488"/>
            <a:ext cx="109728" cy="10972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67588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These are new-style parent containers — their child Tasks hold the hours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54296"/>
            <a:ext cx="109728" cy="10972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425696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Historical data (parents with hours) unaffected — no data loss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404104"/>
            <a:ext cx="109728" cy="10972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1755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Rule fires automatically — no manual correction needed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54565"/>
                </a:solidFill>
              </a:rPr>
              <a:t>Expense on Demand  ·  Release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AI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Before → After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137160"/>
            <a:ext cx="2103120" cy="7315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5303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AI pages in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394960" cy="123444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5394960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</a:rPr>
              <a:t>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481328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B0B0"/>
                </a:solidFill>
              </a:rPr>
              <a:t>Zero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4173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4D399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143000"/>
            <a:ext cx="5394960" cy="1234440"/>
          </a:xfrm>
          <a:prstGeom prst="rect">
            <a:avLst/>
          </a:prstGeom>
          <a:solidFill>
            <a:srgbClr val="0A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143000"/>
            <a:ext cx="539496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AFTER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481328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FFD0"/>
                </a:solidFill>
              </a:rPr>
              <a:t>AI Assistant page live in the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514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What changed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52928"/>
            <a:ext cx="11475720" cy="18288"/>
          </a:xfrm>
          <a:prstGeom prst="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154680"/>
            <a:ext cx="109728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9260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Natural language interface to query ADO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04488"/>
            <a:ext cx="109728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67588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Ask about metrics, trends, team performance, blockers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54296"/>
            <a:ext cx="109728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425696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Integrated into the same authenticated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404104"/>
            <a:ext cx="109728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1755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No context switching — analytics and AI in one place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54565"/>
                </a:solidFill>
              </a:rPr>
              <a:t>Expense on Demand  ·  Release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