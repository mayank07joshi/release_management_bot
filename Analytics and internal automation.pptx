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0" y="1097280"/>
            <a:ext cx="4114800" cy="4572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46720" y="1371600"/>
            <a:ext cx="3657600" cy="402336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16459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18CF8"/>
                </a:solidFill>
              </a:rPr>
              <a:t>RELEASE ANALYTICS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10312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Year-End Report
&amp; Platform 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9319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What the data says. What it means. What we're building.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378" y="4596906"/>
            <a:ext cx="5686094" cy="4572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7548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</a:rPr>
              <a:t>Data as of 08 Apr 2026 01:19  |  2,506 work items analysed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18CF8"/>
                </a:solidFill>
              </a:rPr>
              <a:t>01  THE STATE OF OUR RELEASES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Here's where we actually stand.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No projections. No estimates. Real data from our ADO — every ticket, every bug, every release.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74552" cy="10972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3657600" cy="25603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3657600" cy="6400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dirty="0">
                <a:solidFill>
                  <a:srgbClr val="F87171"/>
                </a:solidFill>
              </a:rPr>
              <a:t>491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0040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open bugs right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03320"/>
            <a:ext cx="3200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83 are Critical (P1)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920240"/>
            <a:ext cx="3657600" cy="25603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920240"/>
            <a:ext cx="365760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1488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FBBF24"/>
                </a:solidFill>
              </a:rPr>
              <a:t>33.6%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0040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bugs escape to 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03320"/>
            <a:ext cx="3200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Target is below 10%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920240"/>
            <a:ext cx="3657600" cy="25603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920240"/>
            <a:ext cx="3657600" cy="6400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200" y="21488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F87171"/>
                </a:solidFill>
              </a:rPr>
              <a:t>126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20040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customer-reported issues open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703320"/>
            <a:ext cx="3200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Target is below 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54880"/>
            <a:ext cx="36576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89204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BBF24"/>
                </a:solidFill>
              </a:rPr>
              <a:t>0.43:1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Enhancement to Bug ratio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852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Target ≥ 1:1. We're fixing more than building.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4754880"/>
            <a:ext cx="365760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43400" y="489204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87171"/>
                </a:solidFill>
              </a:rPr>
              <a:t>53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bugs per iteration on avg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852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Target &lt; 15. Worst sprint: 204.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4754880"/>
            <a:ext cx="365760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0" y="489204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87171"/>
                </a:solidFill>
              </a:rPr>
              <a:t>12d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to close a Critical bug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852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Target &lt; 3 days. P2: 35d (target &lt;7).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18CF8"/>
                </a:solidFill>
              </a:rPr>
              <a:t>02  DEFECT ESCAPE &amp; PRODUCTION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7171"/>
                </a:solidFill>
              </a:rPr>
              <a:t>34% of our bugs are reaching Production.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Industry standard is under 10%. We are 3.4× above that threshold.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74552" cy="10972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3474720" cy="2286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347472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34D399"/>
                </a:solidFill>
              </a:rPr>
              <a:t>1335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Dev 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Caught before QA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920240"/>
            <a:ext cx="3474720" cy="2286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920240"/>
            <a:ext cx="3474720" cy="6400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2103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60A5FA"/>
                </a:solidFill>
              </a:rPr>
              <a:t>270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0175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QA Found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429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Caught in testing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920240"/>
            <a:ext cx="3474720" cy="2286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1920240"/>
            <a:ext cx="3474720" cy="6400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2103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87171"/>
                </a:solidFill>
              </a:rPr>
              <a:t>843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0175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PROD Escape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429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33.6% — should be &lt;10%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72000"/>
            <a:ext cx="11274552" cy="10972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709160"/>
            <a:ext cx="11430000" cy="155448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800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18CF8"/>
                </a:solidFill>
              </a:rPr>
              <a:t>Fix Speed (Mean Time to Close)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7171"/>
                </a:solidFill>
              </a:rPr>
              <a:t>12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650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P1 Critical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943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target: 3d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7171"/>
                </a:solidFill>
              </a:rPr>
              <a:t>35 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5650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P2 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5943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target: 7d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</a:rPr>
              <a:t>84.9%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650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SLA Breaches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943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target: &lt;10%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5650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Reopened Bugs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5943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should be ~0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18CF8"/>
                </a:solidFill>
              </a:rPr>
              <a:t>03  CUSTOMER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7171"/>
                </a:solidFill>
              </a:rPr>
              <a:t>126 customer issues are open right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Every open customer bug is a direct signal of trust erosion. Target is below 30.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74552" cy="10972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5029200" cy="12801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54864" cy="12801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87171"/>
                </a:solidFill>
              </a:rPr>
              <a:t>126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Open Customer Issues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Target: &lt; 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5029200" cy="12801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54864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474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BBF24"/>
                </a:solidFill>
              </a:rPr>
              <a:t>578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69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Total Customer Bugs (all time)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Tracked in full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46320"/>
            <a:ext cx="5029200" cy="12801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846320"/>
            <a:ext cx="54864" cy="12801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87171"/>
                </a:solidFill>
              </a:rPr>
              <a:t>12d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32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Avg days to close P1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5216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Target: &lt; 3 days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920240"/>
            <a:ext cx="5943600" cy="43891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0" y="1920240"/>
            <a:ext cx="5943600" cy="6400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0" y="20574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What This Means for the Business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715768"/>
            <a:ext cx="54864" cy="502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260604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Customer bugs taking 12+ days to fix signal a broken triage process — not just a backlog problem.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584448"/>
            <a:ext cx="54864" cy="502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347472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At 126 open issues, every release carries reputational risk. We are shipping features while customer pain accumulates.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4453128"/>
            <a:ext cx="54864" cy="502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434340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No systematic customer issue SLA exists today. We are tracking resolution time but not enforcing 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5321807"/>
            <a:ext cx="54864" cy="502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60" y="5212079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The data shows customer bugs are consistently deprioritised vs internal bugs — this needs a dedicated queue with escalation rules.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828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dirty="0">
                <a:solidFill>
                  <a:srgbClr val="818CF8"/>
                </a:solidFill>
              </a:rPr>
              <a:t>04  YEAR-END SCORECARD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000" b="1" dirty="0">
                <a:solidFill>
                  <a:srgbClr val="FFFFFF"/>
                </a:solidFill>
              </a:rPr>
              <a:t>Our Targets. Now Visible.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Every metric below is derived from live ADO data. These are facts, not estimates.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74552" cy="10972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430000" cy="34747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8928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8928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8928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18928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12848"/>
            <a:ext cx="11430000" cy="493776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30428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Defect Escape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3042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</a:rPr>
              <a:t>33.6%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30428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&lt; 10%</a:t>
            </a:r>
          </a:p>
        </p:txBody>
      </p:sp>
      <p:sp>
        <p:nvSpPr>
          <p:cNvPr id="16" name="Oval 15"/>
          <p:cNvSpPr/>
          <p:nvPr/>
        </p:nvSpPr>
        <p:spPr>
          <a:xfrm>
            <a:off x="10424160" y="2368296"/>
            <a:ext cx="182880" cy="1828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734056"/>
            <a:ext cx="11430000" cy="493776"/>
          </a:xfrm>
          <a:prstGeom prst="rect">
            <a:avLst/>
          </a:prstGeom>
          <a:solidFill>
            <a:srgbClr val="0D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282549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P1 Open Bugs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8254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</a:rPr>
              <a:t>83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82549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&lt; 5</a:t>
            </a:r>
          </a:p>
        </p:txBody>
      </p:sp>
      <p:sp>
        <p:nvSpPr>
          <p:cNvPr id="21" name="Oval 20"/>
          <p:cNvSpPr/>
          <p:nvPr/>
        </p:nvSpPr>
        <p:spPr>
          <a:xfrm>
            <a:off x="10424160" y="2889504"/>
            <a:ext cx="182880" cy="1828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255263"/>
            <a:ext cx="11430000" cy="493776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346703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Open Bug Backlog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3346703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</a:rPr>
              <a:t>491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346703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&lt; 150</a:t>
            </a:r>
          </a:p>
        </p:txBody>
      </p:sp>
      <p:sp>
        <p:nvSpPr>
          <p:cNvPr id="26" name="Oval 25"/>
          <p:cNvSpPr/>
          <p:nvPr/>
        </p:nvSpPr>
        <p:spPr>
          <a:xfrm>
            <a:off x="10424160" y="3410711"/>
            <a:ext cx="182880" cy="1828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3776472"/>
            <a:ext cx="11430000" cy="493776"/>
          </a:xfrm>
          <a:prstGeom prst="rect">
            <a:avLst/>
          </a:prstGeom>
          <a:solidFill>
            <a:srgbClr val="0D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38679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Customer Open Issues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38679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</a:rPr>
              <a:t>126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8679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&lt; 30</a:t>
            </a:r>
          </a:p>
        </p:txBody>
      </p:sp>
      <p:sp>
        <p:nvSpPr>
          <p:cNvPr id="31" name="Oval 30"/>
          <p:cNvSpPr/>
          <p:nvPr/>
        </p:nvSpPr>
        <p:spPr>
          <a:xfrm>
            <a:off x="10424160" y="3931920"/>
            <a:ext cx="182880" cy="1828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297679"/>
            <a:ext cx="11430000" cy="493776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4389119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Enh : Bug Ratio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438911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</a:rPr>
              <a:t>0.43 :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38911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≥ 1 : 1</a:t>
            </a:r>
          </a:p>
        </p:txBody>
      </p:sp>
      <p:sp>
        <p:nvSpPr>
          <p:cNvPr id="36" name="Oval 35"/>
          <p:cNvSpPr/>
          <p:nvPr/>
        </p:nvSpPr>
        <p:spPr>
          <a:xfrm>
            <a:off x="10424160" y="4453127"/>
            <a:ext cx="182880" cy="1828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4818888"/>
            <a:ext cx="11430000" cy="493776"/>
          </a:xfrm>
          <a:prstGeom prst="rect">
            <a:avLst/>
          </a:prstGeom>
          <a:solidFill>
            <a:srgbClr val="0D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49103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Critical MTTC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49103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</a:rPr>
              <a:t>12 days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491032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&lt; 3 days</a:t>
            </a:r>
          </a:p>
        </p:txBody>
      </p:sp>
      <p:sp>
        <p:nvSpPr>
          <p:cNvPr id="41" name="Oval 40"/>
          <p:cNvSpPr/>
          <p:nvPr/>
        </p:nvSpPr>
        <p:spPr>
          <a:xfrm>
            <a:off x="10424160" y="4974336"/>
            <a:ext cx="182880" cy="1828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7200" y="5340096"/>
            <a:ext cx="11430000" cy="493776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4360" y="543153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SLA Breach 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0" y="54315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</a:rPr>
              <a:t>84.9%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543153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&lt; 10%</a:t>
            </a:r>
          </a:p>
        </p:txBody>
      </p:sp>
      <p:sp>
        <p:nvSpPr>
          <p:cNvPr id="46" name="Oval 45"/>
          <p:cNvSpPr/>
          <p:nvPr/>
        </p:nvSpPr>
        <p:spPr>
          <a:xfrm>
            <a:off x="10424160" y="5495544"/>
            <a:ext cx="182880" cy="1828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57200" y="5861304"/>
            <a:ext cx="11430000" cy="493776"/>
          </a:xfrm>
          <a:prstGeom prst="rect">
            <a:avLst/>
          </a:prstGeom>
          <a:solidFill>
            <a:srgbClr val="0D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4360" y="595274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Bugs per Iteration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4960" y="595274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</a:rPr>
              <a:t>53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595274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&lt; 15</a:t>
            </a:r>
          </a:p>
        </p:txBody>
      </p:sp>
      <p:sp>
        <p:nvSpPr>
          <p:cNvPr id="51" name="Oval 50"/>
          <p:cNvSpPr/>
          <p:nvPr/>
        </p:nvSpPr>
        <p:spPr>
          <a:xfrm>
            <a:off x="10424160" y="6016752"/>
            <a:ext cx="182880" cy="1828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228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>
                <a:solidFill>
                  <a:srgbClr val="94A3B8"/>
                </a:solidFill>
              </a:rPr>
              <a:t>Everything you just saw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is tracked live in our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</a:rPr>
              <a:t>Not a one-time export. Not a spreadsheet. A live, queryable, team-accessible analytics platform.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114800"/>
            <a:ext cx="114300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41605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4114800"/>
            <a:ext cx="1143000" cy="34747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06040" y="41605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Release Outlook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4114800"/>
            <a:ext cx="1143000" cy="34747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0" y="41605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Capacity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4114800"/>
            <a:ext cx="1143000" cy="34747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74920" y="41605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QA Health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4114800"/>
            <a:ext cx="1143000" cy="34747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41605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Items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4114800"/>
            <a:ext cx="1143000" cy="34747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41605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Epics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4114800"/>
            <a:ext cx="1143000" cy="34747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78240" y="41605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Releases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12680" y="4114800"/>
            <a:ext cx="1143000" cy="34747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12680" y="41605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09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18CF8"/>
                </a:solidFill>
              </a:rPr>
              <a:t>↑  The platform. Live in your browser. Right now.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18CF8"/>
                </a:solidFill>
              </a:rPr>
              <a:t>05 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One platform. Every angle of your release.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Built on your ADO data. Refreshes every 5 minutes. No manual exports needed.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74552" cy="10972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3657600" cy="19659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365760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05739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🐛 Bug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19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Priority breakdown, MTTC,
escape rate, source tracking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874519"/>
            <a:ext cx="3657600" cy="19659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874519"/>
            <a:ext cx="365760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205739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🧪 QA 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560319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SLA compliance, defect discovery,
tester workload, rejections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874519"/>
            <a:ext cx="3657600" cy="19659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874519"/>
            <a:ext cx="36576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205739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📈 Capacity 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60319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Utilisation, estimation accuracy,
forecasting, team throughput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14800"/>
            <a:ext cx="3657600" cy="19659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4114800"/>
            <a:ext cx="365760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297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🚀 Release Outlook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8006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Per-release health, completion %,
blockers, at-risk signalling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4114800"/>
            <a:ext cx="3657600" cy="19659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43400" y="4114800"/>
            <a:ext cx="3657600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26280" y="4297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📋 Feature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8006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Epics → Releases → Features
managed end-to-end in the tool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114800"/>
            <a:ext cx="3657600" cy="19659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0" y="4114800"/>
            <a:ext cx="36576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0" y="4297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📄 Board Reports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8006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One-click summary for any board
with data-driven suggestions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18CF8"/>
                </a:solidFill>
              </a:rPr>
              <a:t>04  BUILT FOR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Stop asking around. The answer is already there.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Every question your team wastes sprint-planning time on — answered in seconds, no meeting required.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74552" cy="10972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A5568"/>
                </a:solidFill>
              </a:rPr>
              <a:t>The question your team is currently asking...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7830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18CF8"/>
                </a:solidFill>
              </a:rPr>
              <a:t>...and where to find the answer instantly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5852160" cy="77724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54864" cy="77724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226771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How many P1 bugs are open right now?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2103120"/>
            <a:ext cx="4937760" cy="77724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0" y="2103120"/>
            <a:ext cx="54864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59168" y="226771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Bug Analytics  →  Priority breakdown, live count, escape trend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08376"/>
            <a:ext cx="5852160" cy="77724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008376"/>
            <a:ext cx="54864" cy="77724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317296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Are we on track to hit the release date?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4553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3008376"/>
            <a:ext cx="4937760" cy="77724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0" y="3008376"/>
            <a:ext cx="54864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59168" y="317296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Release Outlook  →  Completion %, open blockers, at-risk flags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13631"/>
            <a:ext cx="5852160" cy="77724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913631"/>
            <a:ext cx="54864" cy="77724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4078223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Which tester is overloaded this sprint?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050791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913631"/>
            <a:ext cx="4937760" cy="77724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0" y="3913631"/>
            <a:ext cx="54864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59168" y="4078223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QA Health  →  Assignee workload, SLA breach by person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818888"/>
            <a:ext cx="5852160" cy="77724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4818888"/>
            <a:ext cx="54864" cy="77724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" y="4983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What's our team capacity going into next sprint?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95604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818888"/>
            <a:ext cx="4937760" cy="77724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858000" y="4818888"/>
            <a:ext cx="54864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59168" y="49834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Capacity Board  →  Utilisation %, estimation accuracy, forecast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724144"/>
            <a:ext cx="5852160" cy="77724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7200" y="5724144"/>
            <a:ext cx="54864" cy="77724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" y="5888736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Did we get better or worse than last sprint?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86130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724144"/>
            <a:ext cx="4937760" cy="77724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858000" y="5724144"/>
            <a:ext cx="54864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059168" y="5888736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Board Reports  →  One-click summary with trend callouts &amp; suggestions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18CF8"/>
                </a:solidFill>
              </a:rPr>
              <a:t>06  WHY THIS TOOL — NOT JUST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"Why not just paste the data into Claude?"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Fair question. Here's the honest answer.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74552" cy="10972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11430000" cy="84124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94767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18CF8"/>
                </a:solidFill>
              </a:rPr>
              <a:t>📦  Data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947671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D399"/>
                </a:solidFill>
              </a:rPr>
              <a:t>5,892 work items. You can't paste that into Claude.
The tool queries everything — always.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947671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vs  AI gives you answers on what you can manually copy.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07208"/>
            <a:ext cx="11430000" cy="841248"/>
          </a:xfrm>
          <a:prstGeom prst="rect">
            <a:avLst/>
          </a:prstGeom>
          <a:solidFill>
            <a:srgbClr val="0D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18CF8"/>
                </a:solidFill>
              </a:rPr>
              <a:t>📈  Trend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88036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D399"/>
                </a:solidFill>
              </a:rPr>
              <a:t>The tool tracks 12 months of velocity, escape rate,
and bug trends across every sprint.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88036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vs  AI sees a snapshot. No memory. No trend.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39896"/>
            <a:ext cx="11430000" cy="84124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8130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18CF8"/>
                </a:solidFill>
              </a:rPr>
              <a:t>⚡  Always Current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813048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D399"/>
                </a:solidFill>
              </a:rPr>
              <a:t>Live data. Refreshed every 5 minutes from ADO.
No export. No stale spreadsheet.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813048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vs  AI answers depend on what you paste, when you paste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72583"/>
            <a:ext cx="11430000" cy="841248"/>
          </a:xfrm>
          <a:prstGeom prst="rect">
            <a:avLst/>
          </a:prstGeom>
          <a:solidFill>
            <a:srgbClr val="0D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745735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18CF8"/>
                </a:solidFill>
              </a:rPr>
              <a:t>🔐  Access Controls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745735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D399"/>
                </a:solidFill>
              </a:rPr>
              <a:t>Role-based access. Audit trail. Team-level views.
Every session is logged.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745735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vs  AI conversations are ephemeral. No accountability trail.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605272"/>
            <a:ext cx="11430000" cy="84124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6784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18CF8"/>
                </a:solidFill>
              </a:rPr>
              <a:t>🎯  Actionable Outputs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5678424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D399"/>
                </a:solidFill>
              </a:rPr>
              <a:t>Flags risks. Suggests fixes. Tracks resolution across
sprints. Knows your thresholds.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5678424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vs  AI tells you once. Doesn't follow up. Doesn't track.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1755648"/>
            <a:ext cx="4572000" cy="1371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589520" y="1755648"/>
            <a:ext cx="3931920" cy="13716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34640" y="1554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</a:rPr>
              <a:t>This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1554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</a:rPr>
              <a:t>Asking AI directly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18CF8"/>
                </a:solidFill>
              </a:rPr>
              <a:t>07  WHAT'S COMING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000" b="1" dirty="0">
                <a:solidFill>
                  <a:srgbClr val="FFFFFF"/>
                </a:solidFill>
              </a:rPr>
              <a:t>Scoped Capabilities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74552" cy="10972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5577840" cy="44805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557784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749040" y="2057399"/>
            <a:ext cx="2103120" cy="27432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057399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</a:rPr>
              <a:t>🤖  Recommendation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61487"/>
            <a:ext cx="54864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65175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Analyses sprint data and flags patterns automatically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474719"/>
            <a:ext cx="54864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364991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Suggests priority rebalancing based on historical defect injection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187951"/>
            <a:ext cx="54864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078223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Alerts when escape rate or backlog exceeds threshold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01183"/>
            <a:ext cx="54864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791455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Generates weekly digest reports for team leads — no manual effort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614415"/>
            <a:ext cx="54864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5504687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Replaces gut-feel planning with data-backed suggestions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874519"/>
            <a:ext cx="5577840" cy="44805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0" y="1874519"/>
            <a:ext cx="557784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692640" y="2057399"/>
            <a:ext cx="2103120" cy="27432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2057399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💬  Release Bot (Slack / Teams)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761487"/>
            <a:ext cx="54864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66560" y="265175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Query release health in natural language: 'What's blocking Nov release?'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474719"/>
            <a:ext cx="54864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66560" y="3364991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Daily automated standup summaries pushed to team channel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4187951"/>
            <a:ext cx="54864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66560" y="4078223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P1 bug alerts routed directly to the right team without dashboard login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4901183"/>
            <a:ext cx="54864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66560" y="4791455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Sprint start/end summaries with velocity comparison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5614415"/>
            <a:ext cx="54864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66560" y="5504687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Reduces status meeting time and keeps leadership informed automatically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560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dirty="0">
                <a:solidFill>
                  <a:srgbClr val="FFFFFF"/>
                </a:solidFill>
              </a:rPr>
              <a:t>The data is in front of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3502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dirty="0">
                <a:solidFill>
                  <a:srgbClr val="FFFFFF"/>
                </a:solidFill>
              </a:rPr>
              <a:t>No more guessing in meetings.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03320"/>
            <a:ext cx="11274552" cy="10972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Data as of 08 Apr 2026 01:19  |  Built on Azure DevOps  |  Release Analytics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1104</Words>
  <Application>Microsoft Office PowerPoint</Application>
  <PresentationFormat>Custom</PresentationFormat>
  <Paragraphs>182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Mayank Joshi</cp:lastModifiedBy>
  <cp:revision>4</cp:revision>
  <dcterms:created xsi:type="dcterms:W3CDTF">2013-01-27T09:14:16Z</dcterms:created>
  <dcterms:modified xsi:type="dcterms:W3CDTF">2026-04-10T04:47:33Z</dcterms:modified>
  <cp:category/>
</cp:coreProperties>
</file>